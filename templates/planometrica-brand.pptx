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Показатель</c:v>
                </c:pt>
              </c:strCache>
            </c:strRef>
          </c:tx>
          <c:dPt>
            <c:idx val="0"/>
            <c:spPr>
              <a:solidFill>
                <a:srgbClr val="0A4C76"/>
              </a:solidFill>
            </c:spPr>
          </c:dPt>
          <c:dPt>
            <c:idx val="1"/>
            <c:spPr>
              <a:solidFill>
                <a:srgbClr val="1A7BB3"/>
              </a:solidFill>
            </c:spPr>
          </c:dPt>
          <c:dPt>
            <c:idx val="2"/>
            <c:spPr>
              <a:solidFill>
                <a:srgbClr val="92CF93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EF4444"/>
              </a:solidFill>
            </c:spPr>
          </c:dPt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32</c:v>
                </c:pt>
                <c:pt idx="2">
                  <c:v>47</c:v>
                </c:pt>
                <c:pt idx="3">
                  <c:v>65</c:v>
                </c:pt>
                <c:pt idx="4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4748B"/>
                </a:solidFill>
                <a:latin typeface="JetBrains Mon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4748B"/>
                </a:solidFill>
                <a:latin typeface="JetBrains Mono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C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Unbounded"/>
              </a:rPr>
              <a:t>ПЛАНОМЕТРИКА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822960" cy="64008"/>
          </a:xfrm>
          <a:prstGeom prst="rect">
            <a:avLst/>
          </a:prstGeom>
          <a:solidFill>
            <a:srgbClr val="92C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nrope"/>
              </a:rPr>
              <a:t>Заголовок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0F9FF"/>
                </a:solidFill>
                <a:latin typeface="Manrope"/>
              </a:rPr>
              <a:t>Подзаголовок — краткое описание темы и контекста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2CF93"/>
                </a:solidFill>
                <a:latin typeface="JetBrains Mono"/>
              </a:rPr>
              <a:t>2026 · planometrica.pro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91672" y="0"/>
            <a:ext cx="1097280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40312" y="201168"/>
            <a:ext cx="548640" cy="201168"/>
          </a:xfrm>
          <a:prstGeom prst="rect">
            <a:avLst/>
          </a:prstGeom>
          <a:solidFill>
            <a:srgbClr val="92C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B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3657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Manrope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794760"/>
            <a:ext cx="8229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0690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nrope"/>
              </a:rPr>
              <a:t>Название раздела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9FF"/>
                </a:solidFill>
                <a:latin typeface="JetBrains Mono"/>
              </a:rPr>
              <a:t>Пояснение к разделу — основной текст в JetBrains Mono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4C76"/>
                </a:solidFill>
                <a:latin typeface="Manrope"/>
              </a:rPr>
              <a:t>Заголовок раздела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92C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8813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>
                <a:solidFill>
                  <a:srgbClr val="0F172A"/>
                </a:solidFill>
                <a:latin typeface="JetBrains Mono"/>
              </a:rPr>
              <a:t>—  Основной текст набирается JetBrains Mono — канон дизайн-системы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>
                <a:solidFill>
                  <a:srgbClr val="0F172A"/>
                </a:solidFill>
                <a:latin typeface="JetBrains Mono"/>
              </a:rPr>
              <a:t>—  Заголовки и подзаголовки — Manrope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>
                <a:solidFill>
                  <a:srgbClr val="0F172A"/>
                </a:solidFill>
                <a:latin typeface="JetBrains Mono"/>
              </a:rPr>
              <a:t>—  Unbounded используется только для нейминга «Планометрика»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>
                <a:solidFill>
                  <a:srgbClr val="0F172A"/>
                </a:solidFill>
                <a:latin typeface="JetBrains Mono"/>
              </a:rPr>
              <a:t>—  Цвета — строго из палитры @planometrica/ui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Примечание: подписи и сноски — JetBrains Mono, muted #64748B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A4C76"/>
                </a:solidFill>
                <a:latin typeface="Unbounded"/>
              </a:rPr>
              <a:t>ПЛАНОМЕТРИКА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4C76"/>
                </a:solidFill>
                <a:latin typeface="Manrope"/>
              </a:rPr>
              <a:t>Сравнение в две колонки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92C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94960" cy="4206240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57200" cy="64008"/>
          </a:xfrm>
          <a:prstGeom prst="rect">
            <a:avLst/>
          </a:prstGeom>
          <a:solidFill>
            <a:srgbClr val="1A7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4C76"/>
                </a:solidFill>
                <a:latin typeface="Manrope"/>
              </a:rPr>
              <a:t>Вариант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6634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172A"/>
                </a:solidFill>
                <a:latin typeface="JetBrains Mono"/>
              </a:rPr>
              <a:t>Текст карточки — JetBrains Mono 13pt. Фон карточки — semantic secondary #F0F9FF, рамка — border #E2E8F0.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645920"/>
            <a:ext cx="5394960" cy="4206240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19" y="2011680"/>
            <a:ext cx="45720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19" y="22402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4C76"/>
                </a:solidFill>
                <a:latin typeface="Manrope"/>
              </a:rPr>
              <a:t>Вариант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19" y="2834640"/>
            <a:ext cx="46634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F172A"/>
                </a:solidFill>
                <a:latin typeface="JetBrains Mono"/>
              </a:rPr>
              <a:t>Текст карточки — JetBrains Mono 13pt. Фон карточки — semantic secondary #F0F9FF, рамка — border #E2E8F0.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A4C76"/>
                </a:solidFill>
                <a:latin typeface="Unbounded"/>
              </a:rPr>
              <a:t>ПЛАНОМЕТРИКА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4C76"/>
                </a:solidFill>
                <a:latin typeface="Manrope"/>
              </a:rPr>
              <a:t>Палитра — бренд и диаграммы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92C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0A4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55264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anrope"/>
              </a:rPr>
              <a:t>Основной синий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JetBrains Mono"/>
              </a:rPr>
              <a:t>#0A4C76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brand.primary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645920"/>
            <a:ext cx="2606040" cy="1554480"/>
          </a:xfrm>
          <a:prstGeom prst="rect">
            <a:avLst/>
          </a:prstGeom>
          <a:solidFill>
            <a:srgbClr val="1A7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3255264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anrope"/>
              </a:rPr>
              <a:t>Светлый синий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JetBrains Mono"/>
              </a:rPr>
              <a:t>#1A7BB3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brand.secondary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645920"/>
            <a:ext cx="2606040" cy="1554480"/>
          </a:xfrm>
          <a:prstGeom prst="rect">
            <a:avLst/>
          </a:prstGeom>
          <a:solidFill>
            <a:srgbClr val="92C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3255264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anrope"/>
              </a:rPr>
              <a:t>Зелёный (success)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JetBrains Mono"/>
              </a:rPr>
              <a:t>#92CF93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brand.green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19" y="1645920"/>
            <a:ext cx="2606040" cy="1554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19" y="3255264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anrope"/>
              </a:rPr>
              <a:t>Оранжевый (warning)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JetBrains Mono"/>
              </a:rPr>
              <a:t>#F59E0B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JetBrains Mono"/>
              </a:rPr>
              <a:t>brand.orange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C76"/>
                </a:solidFill>
                <a:latin typeface="Manrope"/>
              </a:rPr>
              <a:t>Диаграммы (chart.1–5)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2011680" cy="822960"/>
          </a:xfrm>
          <a:prstGeom prst="rect">
            <a:avLst/>
          </a:prstGeom>
          <a:solidFill>
            <a:srgbClr val="0A4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8698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anrope"/>
              </a:rPr>
              <a:t>chart.1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JetBrains Mono"/>
              </a:rPr>
              <a:t>#0A4C76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709160"/>
            <a:ext cx="2011680" cy="822960"/>
          </a:xfrm>
          <a:prstGeom prst="rect">
            <a:avLst/>
          </a:prstGeom>
          <a:solidFill>
            <a:srgbClr val="1A7B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558698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anrope"/>
              </a:rPr>
              <a:t>chart.2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JetBrains Mono"/>
              </a:rPr>
              <a:t>#1A7BB3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4709160"/>
            <a:ext cx="2011680" cy="822960"/>
          </a:xfrm>
          <a:prstGeom prst="rect">
            <a:avLst/>
          </a:prstGeom>
          <a:solidFill>
            <a:srgbClr val="92C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558698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anrope"/>
              </a:rPr>
              <a:t>chart.3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JetBrains Mono"/>
              </a:rPr>
              <a:t>#92CF93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4709160"/>
            <a:ext cx="2011680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558698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anrope"/>
              </a:rPr>
              <a:t>chart.4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JetBrains Mono"/>
              </a:rPr>
              <a:t>#F59E0B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709160"/>
            <a:ext cx="2011680" cy="8229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5586984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anrope"/>
              </a:rPr>
              <a:t>chart.5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JetBrains Mono"/>
              </a:rPr>
              <a:t>#EF4444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A4C76"/>
                </a:solidFill>
                <a:latin typeface="Unbounded"/>
              </a:rPr>
              <a:t>ПЛАНОМЕТРИКА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4C76"/>
                </a:solidFill>
                <a:latin typeface="Manrope"/>
              </a:rPr>
              <a:t>Палитра — семантические цвета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92C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C76"/>
                </a:solidFill>
                <a:latin typeface="Manrope"/>
              </a:rPr>
              <a:t>Light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A4C76"/>
                </a:solidFill>
                <a:latin typeface="Manrope"/>
              </a:rPr>
              <a:t>Dark theme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920240"/>
            <a:ext cx="5486400" cy="4480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8483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anrope"/>
              </a:rP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#FFFFFF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solidFill>
            <a:srgbClr val="F0F9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066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anrope"/>
              </a:rPr>
              <a:t>secondary / muted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249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#F0F9FF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284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anrope"/>
              </a:rPr>
              <a:t>border /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34670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#E2E8F0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22776"/>
            <a:ext cx="457200" cy="457200"/>
          </a:xfrm>
          <a:prstGeom prst="rect">
            <a:avLst/>
          </a:prstGeom>
          <a:solidFill>
            <a:srgbClr val="FAFA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9502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anrope"/>
              </a:rPr>
              <a:t>sidebar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6849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#FAFAFA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anrope"/>
              </a:rPr>
              <a:t>mutedForeground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590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#64748B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1937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anrope"/>
              </a:rPr>
              <a:t>destructive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212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#EF4444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788152"/>
            <a:ext cx="457200" cy="457200"/>
          </a:xfrm>
          <a:prstGeom prst="rect">
            <a:avLst/>
          </a:prstGeom>
          <a:solidFill>
            <a:srgbClr val="0A4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81558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anrope"/>
              </a:rPr>
              <a:t>foreground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8338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#0A4C76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08483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Manrope"/>
              </a:rPr>
              <a:t>background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1031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#0F172A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679192"/>
            <a:ext cx="45720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270662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Manrope"/>
              </a:rPr>
              <a:t>card / popover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7249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#1E293B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300984"/>
            <a:ext cx="457200" cy="4572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32841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Manrope"/>
              </a:rPr>
              <a:t>secondary / muted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34670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#334155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922776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395020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Manrope"/>
              </a:rPr>
              <a:t>primary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96849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#3B82F6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544568"/>
            <a:ext cx="457200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45720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Manrope"/>
              </a:rPr>
              <a:t>mutedForeground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45902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#94A3B8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166360"/>
            <a:ext cx="457200" cy="45720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51937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Manrope"/>
              </a:rPr>
              <a:t>destructive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5212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#7F1D1D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5788152"/>
            <a:ext cx="457200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581558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Manrope"/>
              </a:rPr>
              <a:t>foreground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58338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JetBrains Mono"/>
              </a:rPr>
              <a:t>#F8FAFC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190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A4C76"/>
                </a:solidFill>
                <a:latin typeface="Unbounded"/>
              </a:rPr>
              <a:t>ПЛАНОМЕТРИКА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4C76"/>
                </a:solidFill>
                <a:latin typeface="Manrope"/>
              </a:rPr>
              <a:t>Данные и диаграммы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92C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11064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190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A4C76"/>
                </a:solidFill>
                <a:latin typeface="Unbounded"/>
              </a:rPr>
              <a:t>ПЛАНОМЕТРИКА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A4C76"/>
                </a:solidFill>
                <a:latin typeface="Manrope"/>
              </a:rPr>
              <a:t>Таблицы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92C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nrope"/>
                        </a:rPr>
                        <a:t>Метрика</a:t>
                      </a:r>
                    </a:p>
                  </a:txBody>
                  <a:tcPr>
                    <a:solidFill>
                      <a:srgbClr val="0A4C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nrope"/>
                        </a:rPr>
                        <a:t>2024</a:t>
                      </a:r>
                    </a:p>
                  </a:txBody>
                  <a:tcPr>
                    <a:solidFill>
                      <a:srgbClr val="0A4C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nrope"/>
                        </a:rPr>
                        <a:t>2025</a:t>
                      </a:r>
                    </a:p>
                  </a:txBody>
                  <a:tcPr>
                    <a:solidFill>
                      <a:srgbClr val="0A4C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nrope"/>
                        </a:rPr>
                        <a:t>2026</a:t>
                      </a:r>
                    </a:p>
                  </a:txBody>
                  <a:tcPr>
                    <a:solidFill>
                      <a:srgbClr val="0A4C7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Выручка, млн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12,4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18,9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27,3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Проекты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86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142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210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Партнёры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NPS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62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71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JetBrains Mono"/>
                        </a:rPr>
                        <a:t>78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1908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A4C76"/>
                </a:solidFill>
                <a:latin typeface="Unbounded"/>
              </a:rPr>
              <a:t>ПЛАНОМЕТРИКА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8" y="2331720"/>
            <a:ext cx="1280160" cy="64008"/>
          </a:xfrm>
          <a:prstGeom prst="rect">
            <a:avLst/>
          </a:prstGeom>
          <a:solidFill>
            <a:srgbClr val="92C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26517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0">
                <a:solidFill>
                  <a:srgbClr val="F8FAFC"/>
                </a:solidFill>
                <a:latin typeface="Unbounded"/>
              </a:rPr>
              <a:t>ПЛАНОМЕТРИКА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36576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Manrope"/>
              </a:rPr>
              <a:t>Спасибо за внимание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297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2CF93"/>
                </a:solidFill>
                <a:latin typeface="JetBrains Mono"/>
              </a:rPr>
              <a:t>planometrica.pro · hello@planometrica.pro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ometrica">
  <a:themeElements>
    <a:clrScheme name="Planometrica">
      <a:dk1>
        <a:srgbClr val="0A4C76"/>
      </a:dk1>
      <a:lt1>
        <a:srgbClr val="FFFFFF"/>
      </a:lt1>
      <a:dk2>
        <a:srgbClr val="0F172A"/>
      </a:dk2>
      <a:lt2>
        <a:srgbClr val="F0F9FF"/>
      </a:lt2>
      <a:accent1>
        <a:srgbClr val="0A4C76"/>
      </a:accent1>
      <a:accent2>
        <a:srgbClr val="1A7BB3"/>
      </a:accent2>
      <a:accent3>
        <a:srgbClr val="92CF93"/>
      </a:accent3>
      <a:accent4>
        <a:srgbClr val="F59E0B"/>
      </a:accent4>
      <a:accent5>
        <a:srgbClr val="EF4444"/>
      </a:accent5>
      <a:accent6>
        <a:srgbClr val="64748B"/>
      </a:accent6>
      <a:hlink>
        <a:srgbClr val="1A7BB3"/>
      </a:hlink>
      <a:folHlink>
        <a:srgbClr val="64748B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JetBrains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