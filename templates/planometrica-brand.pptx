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Показатель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A4C76"/>
              </a:solidFill>
            </c:spPr>
            <c:extLst>
              <c:ext xmlns:c16="http://schemas.microsoft.com/office/drawing/2014/chart" uri="{C3380CC4-5D6E-409C-BE32-E72D297353CC}">
                <c16:uniqueId val="{00000001-79B2-C44E-9759-D94DB579FE26}"/>
              </c:ext>
            </c:extLst>
          </c:dPt>
          <c:dPt>
            <c:idx val="1"/>
            <c:invertIfNegative val="1"/>
            <c:bubble3D val="0"/>
            <c:spPr>
              <a:solidFill>
                <a:srgbClr val="1A7BB3"/>
              </a:solidFill>
            </c:spPr>
            <c:extLst>
              <c:ext xmlns:c16="http://schemas.microsoft.com/office/drawing/2014/chart" uri="{C3380CC4-5D6E-409C-BE32-E72D297353CC}">
                <c16:uniqueId val="{00000003-79B2-C44E-9759-D94DB579FE26}"/>
              </c:ext>
            </c:extLst>
          </c:dPt>
          <c:dPt>
            <c:idx val="2"/>
            <c:invertIfNegative val="1"/>
            <c:bubble3D val="0"/>
            <c:spPr>
              <a:solidFill>
                <a:srgbClr val="92CF93"/>
              </a:solidFill>
            </c:spPr>
            <c:extLst>
              <c:ext xmlns:c16="http://schemas.microsoft.com/office/drawing/2014/chart" uri="{C3380CC4-5D6E-409C-BE32-E72D297353CC}">
                <c16:uniqueId val="{00000005-79B2-C44E-9759-D94DB579FE26}"/>
              </c:ext>
            </c:extLst>
          </c:dPt>
          <c:dPt>
            <c:idx val="3"/>
            <c:invertIfNegative val="1"/>
            <c:bubble3D val="0"/>
            <c:spPr>
              <a:solidFill>
                <a:srgbClr val="F59E0B"/>
              </a:solidFill>
            </c:spPr>
            <c:extLst>
              <c:ext xmlns:c16="http://schemas.microsoft.com/office/drawing/2014/chart" uri="{C3380CC4-5D6E-409C-BE32-E72D297353CC}">
                <c16:uniqueId val="{00000007-79B2-C44E-9759-D94DB579FE26}"/>
              </c:ext>
            </c:extLst>
          </c:dPt>
          <c:dPt>
            <c:idx val="4"/>
            <c:invertIfNegative val="1"/>
            <c:bubble3D val="0"/>
            <c:spPr>
              <a:solidFill>
                <a:srgbClr val="EF4444"/>
              </a:solidFill>
            </c:spPr>
            <c:extLst>
              <c:ext xmlns:c16="http://schemas.microsoft.com/office/drawing/2014/chart" uri="{C3380CC4-5D6E-409C-BE32-E72D297353CC}">
                <c16:uniqueId val="{00000009-79B2-C44E-9759-D94DB579FE26}"/>
              </c:ext>
            </c:extLst>
          </c:dPt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32</c:v>
                </c:pt>
                <c:pt idx="2">
                  <c:v>47</c:v>
                </c:pt>
                <c:pt idx="3">
                  <c:v>65</c:v>
                </c:pt>
                <c:pt idx="4">
                  <c:v>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9B2-C44E-9759-D94DB579F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4748B"/>
                </a:solidFill>
                <a:latin typeface="JetBrains Mono Medium"/>
              </a:defRPr>
            </a:pPr>
            <a:endParaRPr lang="ru-KZ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4748B"/>
                </a:solidFill>
                <a:latin typeface="JetBrains Mono Medium"/>
              </a:defRPr>
            </a:pPr>
            <a:endParaRPr lang="ru-KZ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4C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Unbounded Medium"/>
              </a:rPr>
              <a:t>Планометрика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2743200"/>
            <a:ext cx="822960" cy="64008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anrope"/>
              </a:rPr>
              <a:t>Заголовок презентации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F0F9FF"/>
                </a:solidFill>
                <a:latin typeface="Manrope"/>
              </a:rPr>
              <a:t>Подзаголовок — краткое описание темы и контекста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2CF93"/>
                </a:solidFill>
                <a:latin typeface="JetBrains Mono Medium"/>
              </a:rPr>
              <a:t>2026 · planometrica.pro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7B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463040"/>
            <a:ext cx="3657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>
                <a:solidFill>
                  <a:srgbClr val="FFFFFF"/>
                </a:solidFill>
                <a:latin typeface="Manrope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3794760"/>
            <a:ext cx="82296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406908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nrope"/>
              </a:rPr>
              <a:t>Название раздела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9204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0F9FF"/>
                </a:solidFill>
                <a:latin typeface="JetBrains Mono Medium"/>
              </a:rPr>
              <a:t>Пояснение к разделу — основной текст в JetBrains Mono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A4C76"/>
                </a:solidFill>
                <a:latin typeface="Manrope"/>
              </a:rPr>
              <a:t>Заголовок раздела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088136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0F172A"/>
                </a:solidFill>
                <a:latin typeface="JetBrains Mono Medium"/>
              </a:rPr>
              <a:t>—  Основной текст набирается JetBrains Mono — канон дизайн-системы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0F172A"/>
                </a:solidFill>
                <a:latin typeface="JetBrains Mono Medium"/>
              </a:rPr>
              <a:t>—  Заголовки и подзаголовки — Manrope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0F172A"/>
                </a:solidFill>
                <a:latin typeface="JetBrains Mono Medium"/>
              </a:rPr>
              <a:t>—  Unbounded используется только для нейминга «Планометрика»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>
                <a:solidFill>
                  <a:srgbClr val="0F172A"/>
                </a:solidFill>
                <a:latin typeface="JetBrains Mono Medium"/>
              </a:rPr>
              <a:t>—  Цвета — строго из палитры @planometrica/ui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JetBrains Mono Medium"/>
              </a:rPr>
              <a:t>Примечание: подписи и сноски — JetBrains Mono, muted #64748B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A4C76"/>
                </a:solidFill>
                <a:latin typeface="Unbounded Medium"/>
              </a:rPr>
              <a:t>Планометрика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JetBrains Mono Medium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A4C76"/>
                </a:solidFill>
                <a:latin typeface="Manrope"/>
              </a:rPr>
              <a:t>Сравнение в две колонки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420624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011680"/>
            <a:ext cx="457200" cy="64008"/>
          </a:xfrm>
          <a:prstGeom prst="rect">
            <a:avLst/>
          </a:prstGeom>
          <a:solidFill>
            <a:srgbClr val="1A7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A4C76"/>
                </a:solidFill>
                <a:latin typeface="Manrope"/>
              </a:rPr>
              <a:t>Вариант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46634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JetBrains Mono Medium"/>
              </a:rPr>
              <a:t>Текст карточки — JetBrains Mono 13pt. Фон карточки — semantic secondary #F0F9FF, рамка — border #E2E8F0.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645920"/>
            <a:ext cx="5394960" cy="420624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75119" y="2011680"/>
            <a:ext cx="45720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19" y="22402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A4C76"/>
                </a:solidFill>
                <a:latin typeface="Manrope"/>
              </a:rPr>
              <a:t>Вариант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19" y="2834640"/>
            <a:ext cx="46634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JetBrains Mono Medium"/>
              </a:rPr>
              <a:t>Текст карточки — JetBrains Mono 13pt. Фон карточки — semantic secondary #F0F9FF, рамка — border #E2E8F0.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A4C76"/>
                </a:solidFill>
                <a:latin typeface="Unbounded Medium"/>
              </a:rPr>
              <a:t>Планометрика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JetBrains Mono Medium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A4C76"/>
                </a:solidFill>
                <a:latin typeface="Manrope"/>
              </a:rPr>
              <a:t>Палитра — бренд и диаграммы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2606040" cy="1554480"/>
          </a:xfrm>
          <a:prstGeom prst="rect">
            <a:avLst/>
          </a:prstGeom>
          <a:solidFill>
            <a:srgbClr val="0A4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3255264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Основной синий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#0A4C76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JetBrains Mono Medium"/>
              </a:rPr>
              <a:t>brand.primary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645920"/>
            <a:ext cx="2606040" cy="1554480"/>
          </a:xfrm>
          <a:prstGeom prst="rect">
            <a:avLst/>
          </a:prstGeom>
          <a:solidFill>
            <a:srgbClr val="1A7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29000" y="3255264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Светлый синий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#1A7BB3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JetBrains Mono Medium"/>
              </a:rPr>
              <a:t>brand.secondary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1645920"/>
            <a:ext cx="2606040" cy="1554480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59" y="3255264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Зелёный (success)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#92CF93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JetBrains Mono Medium"/>
              </a:rPr>
              <a:t>brand.green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89719" y="1645920"/>
            <a:ext cx="2606040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89719" y="3255264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Оранжевый (warning)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#F59E0B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JetBrains Mono Medium"/>
              </a:rPr>
              <a:t>brand.orange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062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A4C76"/>
                </a:solidFill>
                <a:latin typeface="Manrope"/>
              </a:rPr>
              <a:t>Диаграммы (chart.1–5)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09160"/>
            <a:ext cx="2011680" cy="822960"/>
          </a:xfrm>
          <a:prstGeom prst="rect">
            <a:avLst/>
          </a:prstGeom>
          <a:solidFill>
            <a:srgbClr val="0A4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586984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chart.1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#0A4C76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4709160"/>
            <a:ext cx="2011680" cy="822960"/>
          </a:xfrm>
          <a:prstGeom prst="rect">
            <a:avLst/>
          </a:prstGeom>
          <a:solidFill>
            <a:srgbClr val="1A7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34640" y="5586984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chart.2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#1A7BB3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709160"/>
            <a:ext cx="2011680" cy="822960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0640" y="5586984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chart.3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#92CF93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709160"/>
            <a:ext cx="2011680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0" y="5586984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chart.4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#F59E0B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4709160"/>
            <a:ext cx="2011680" cy="82296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5586984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anrope"/>
              </a:rPr>
              <a:t>chart.5</a:t>
            </a:r>
          </a:p>
          <a:p>
            <a:pPr algn="l"/>
            <a:r>
              <a:rPr sz="1000" b="0">
                <a:solidFill>
                  <a:srgbClr val="64748B"/>
                </a:solidFill>
                <a:latin typeface="JetBrains Mono Medium"/>
              </a:rPr>
              <a:t>#EF4444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190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A4C76"/>
                </a:solidFill>
                <a:latin typeface="Unbounded Medium"/>
              </a:rPr>
              <a:t>Планометрика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JetBrains Mono Medium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A4C76"/>
                </a:solidFill>
                <a:latin typeface="Manrope"/>
              </a:rPr>
              <a:t>Палитра — семантические цвета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A4C76"/>
                </a:solidFill>
                <a:latin typeface="Manrope"/>
              </a:rPr>
              <a:t>Light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A4C76"/>
                </a:solidFill>
                <a:latin typeface="Manrope"/>
              </a:rPr>
              <a:t>Dark theme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920240"/>
            <a:ext cx="5486400" cy="4480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08483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anrope"/>
              </a:rPr>
              <a:t>background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1031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JetBrains Mono Medium"/>
              </a:rPr>
              <a:t>#FFFFFF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79192"/>
            <a:ext cx="457200" cy="457200"/>
          </a:xfrm>
          <a:prstGeom prst="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270662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anrope"/>
              </a:rPr>
              <a:t>secondary / muted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2491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JetBrains Mono Medium"/>
              </a:rPr>
              <a:t>#F0F9FF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00984"/>
            <a:ext cx="45720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anrope"/>
              </a:rPr>
              <a:t>border /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34670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JetBrains Mono Medium"/>
              </a:rPr>
              <a:t>#E2E8F0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22776"/>
            <a:ext cx="457200" cy="457200"/>
          </a:xfrm>
          <a:prstGeom prst="rect">
            <a:avLst/>
          </a:prstGeom>
          <a:solidFill>
            <a:srgbClr val="FAFAF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395020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anrope"/>
              </a:rPr>
              <a:t>sidebar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96849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JetBrains Mono Medium"/>
              </a:rPr>
              <a:t>#FAFAFA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457200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anrope"/>
              </a:rPr>
              <a:t>mutedForeground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59028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JetBrains Mono Medium"/>
              </a:rPr>
              <a:t>#64748B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66360"/>
            <a:ext cx="457200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88720" y="519379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anrope"/>
              </a:rPr>
              <a:t>destructive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521208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JetBrains Mono Medium"/>
              </a:rPr>
              <a:t>#EF4444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788152"/>
            <a:ext cx="457200" cy="457200"/>
          </a:xfrm>
          <a:prstGeom prst="rect">
            <a:avLst/>
          </a:prstGeom>
          <a:solidFill>
            <a:srgbClr val="0A4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581558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anrope"/>
              </a:rPr>
              <a:t>foreground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83387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JetBrains Mono Medium"/>
              </a:rPr>
              <a:t>#0A4C76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057400"/>
            <a:ext cx="457200" cy="4572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40880" y="208483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Manrope"/>
              </a:rPr>
              <a:t>background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1031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 Medium"/>
              </a:rPr>
              <a:t>#0F172A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679192"/>
            <a:ext cx="457200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40880" y="270662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Manrope"/>
              </a:rPr>
              <a:t>card / popover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272491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 Medium"/>
              </a:rPr>
              <a:t>#1E293B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300984"/>
            <a:ext cx="457200" cy="4572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040880" y="332841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Manrope"/>
              </a:rPr>
              <a:t>secondary / muted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34670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 Medium"/>
              </a:rPr>
              <a:t>#334155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922776"/>
            <a:ext cx="457200" cy="4572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40880" y="39502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Manrope"/>
              </a:rPr>
              <a:t>primary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396849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 Medium"/>
              </a:rPr>
              <a:t>#3B82F6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544568"/>
            <a:ext cx="457200" cy="457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40880" y="457200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Manrope"/>
              </a:rPr>
              <a:t>mutedForeground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459028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 Medium"/>
              </a:rPr>
              <a:t>#94A3B8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5166360"/>
            <a:ext cx="457200" cy="45720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040880" y="519379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Manrope"/>
              </a:rPr>
              <a:t>destructive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49840" y="521208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 Medium"/>
              </a:rPr>
              <a:t>#7F1D1D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788152"/>
            <a:ext cx="457200" cy="457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040880" y="581558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Manrope"/>
              </a:rPr>
              <a:t>foreground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583387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 Medium"/>
              </a:rPr>
              <a:t>#F8FAFC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190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A4C76"/>
                </a:solidFill>
                <a:latin typeface="Unbounded Medium"/>
              </a:rPr>
              <a:t>Планометрика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JetBrains Mono Medium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A4C76"/>
                </a:solidFill>
                <a:latin typeface="Manrope"/>
              </a:rPr>
              <a:t>Данные и диаграммы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54480"/>
          <a:ext cx="110642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190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A4C76"/>
                </a:solidFill>
                <a:latin typeface="Unbounded Medium"/>
              </a:rPr>
              <a:t>Планометрика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JetBrains Mono Medium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0A4C76"/>
                </a:solidFill>
                <a:latin typeface="Manrope"/>
              </a:rPr>
              <a:t>Таблицы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0" cy="54864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nrope"/>
                        </a:rPr>
                        <a:t>Метрика</a:t>
                      </a:r>
                    </a:p>
                  </a:txBody>
                  <a:tcPr>
                    <a:solidFill>
                      <a:srgbClr val="0A4C7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nrope"/>
                        </a:rPr>
                        <a:t>2024</a:t>
                      </a:r>
                    </a:p>
                  </a:txBody>
                  <a:tcPr>
                    <a:solidFill>
                      <a:srgbClr val="0A4C7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nrope"/>
                        </a:rPr>
                        <a:t>2025</a:t>
                      </a:r>
                    </a:p>
                  </a:txBody>
                  <a:tcPr>
                    <a:solidFill>
                      <a:srgbClr val="0A4C7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anrope"/>
                        </a:rPr>
                        <a:t>2026</a:t>
                      </a:r>
                    </a:p>
                  </a:txBody>
                  <a:tcPr>
                    <a:solidFill>
                      <a:srgbClr val="0A4C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Выручка, млн 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12,4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18,9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27,3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Проекты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86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142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210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Партнёры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NPS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62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71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JetBrains Mono Medium"/>
                        </a:rPr>
                        <a:t>78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190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A4C76"/>
                </a:solidFill>
                <a:latin typeface="Unbounded Medium"/>
              </a:rPr>
              <a:t>Планометрика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1908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JetBrains Mono Medium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58968" y="2331720"/>
            <a:ext cx="1280160" cy="64008"/>
          </a:xfrm>
          <a:prstGeom prst="rect">
            <a:avLst/>
          </a:prstGeom>
          <a:solidFill>
            <a:srgbClr val="92CF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54480" y="2651760"/>
            <a:ext cx="9144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0">
                <a:solidFill>
                  <a:srgbClr val="F8FAFC"/>
                </a:solidFill>
                <a:latin typeface="Unbounded Medium"/>
              </a:rPr>
              <a:t>Планометрика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36576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>
                <a:solidFill>
                  <a:srgbClr val="94A3B8"/>
                </a:solidFill>
                <a:latin typeface="Manrope"/>
              </a:rPr>
              <a:t>Спасибо 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4297680"/>
            <a:ext cx="91440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dirty="0" err="1">
                <a:solidFill>
                  <a:srgbClr val="92CF93"/>
                </a:solidFill>
                <a:latin typeface="JetBrains Mono Medium"/>
              </a:rPr>
              <a:t>planometrica.pro</a:t>
            </a:r>
            <a:r>
              <a:rPr sz="1300" b="0" dirty="0">
                <a:solidFill>
                  <a:srgbClr val="92CF93"/>
                </a:solidFill>
                <a:latin typeface="JetBrains Mono Medium"/>
              </a:rPr>
              <a:t> · </a:t>
            </a:r>
            <a:r>
              <a:rPr lang="en-US" sz="1300" dirty="0" err="1">
                <a:solidFill>
                  <a:srgbClr val="92CF93"/>
                </a:solidFill>
                <a:latin typeface="JetBrains Mono Medium"/>
              </a:rPr>
              <a:t>mail</a:t>
            </a:r>
            <a:r>
              <a:rPr sz="1300" b="0" dirty="0" err="1">
                <a:solidFill>
                  <a:srgbClr val="92CF93"/>
                </a:solidFill>
                <a:latin typeface="JetBrains Mono Medium"/>
              </a:rPr>
              <a:t>@planometrica.</a:t>
            </a:r>
            <a:r>
              <a:rPr lang="en-US" sz="1300" dirty="0" err="1">
                <a:solidFill>
                  <a:srgbClr val="92CF93"/>
                </a:solidFill>
                <a:latin typeface="JetBrains Mono Medium"/>
              </a:rPr>
              <a:t>ru</a:t>
            </a:r>
            <a:endParaRPr sz="1300" b="0" dirty="0">
              <a:solidFill>
                <a:srgbClr val="92CF93"/>
              </a:solidFill>
              <a:latin typeface="JetBrains Mono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nometrica">
  <a:themeElements>
    <a:clrScheme name="Planometrica">
      <a:dk1>
        <a:srgbClr val="0A4C76"/>
      </a:dk1>
      <a:lt1>
        <a:srgbClr val="FFFFFF"/>
      </a:lt1>
      <a:dk2>
        <a:srgbClr val="0F172A"/>
      </a:dk2>
      <a:lt2>
        <a:srgbClr val="F0F9FF"/>
      </a:lt2>
      <a:accent1>
        <a:srgbClr val="0A4C76"/>
      </a:accent1>
      <a:accent2>
        <a:srgbClr val="1A7BB3"/>
      </a:accent2>
      <a:accent3>
        <a:srgbClr val="92CF93"/>
      </a:accent3>
      <a:accent4>
        <a:srgbClr val="F59E0B"/>
      </a:accent4>
      <a:accent5>
        <a:srgbClr val="EF4444"/>
      </a:accent5>
      <a:accent6>
        <a:srgbClr val="64748B"/>
      </a:accent6>
      <a:hlink>
        <a:srgbClr val="1A7BB3"/>
      </a:hlink>
      <a:folHlink>
        <a:srgbClr val="64748B"/>
      </a:folHlink>
    </a:clrScheme>
    <a:fontScheme name="Office">
      <a:majorFont>
        <a:latin typeface="Manrop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JetBrains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304</Words>
  <Application>Microsoft Macintosh PowerPoint</Application>
  <PresentationFormat>Широкоэкранный</PresentationFormat>
  <Paragraphs>111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JetBrains Mono</vt:lpstr>
      <vt:lpstr>JetBrains Mono Medium</vt:lpstr>
      <vt:lpstr>Manrope</vt:lpstr>
      <vt:lpstr>Unbounded Medium</vt:lpstr>
      <vt:lpstr>Planometrica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Andrei Shinkarenko</cp:lastModifiedBy>
  <cp:revision>2</cp:revision>
  <dcterms:created xsi:type="dcterms:W3CDTF">2013-01-27T09:14:16Z</dcterms:created>
  <dcterms:modified xsi:type="dcterms:W3CDTF">2026-07-13T09:46:37Z</dcterms:modified>
  <cp:category/>
</cp:coreProperties>
</file>